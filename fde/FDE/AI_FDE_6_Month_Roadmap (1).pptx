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hook: FDE is one of the hottest, best-paid AI roles right now. This video gives a complete 6-month plan, a real-world client case study, and details of our new bootcamp launching Sept 27,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role simply. Emphasise it is not a support role or a sales engineer role — FDEs write real code and are accountable for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table quickly; the last column is the point. FDE = engineer + consultant +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demo-to-production gap with a story. Mention that FDE roles are typically compensated above standard SWE bands because of the combined skill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people only build pillars 1-3. Pillars 4 and 5 are what separate an FDE from an AI engineer.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half: build the engineering skills. Second half: learn to deploy them into a real organisation. Pause here so viewers can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 1 is unglamorous but critical. Most FDE interview rejections are on basic engineering, not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evals are what make an FDE trustworthy in front of a client. 'It feels better' is not an answer a CIO accepts.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your Deep Agents / LangGraph content. Emphasise HITL — enterprises will not accept fully autonomous agents on day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most AI engineers stop learning. For an FDE, 'it works on my laptop' is the beginning of the job, not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Enterprises buy trust. Talk about the first security review you'll face as an FDE and how this month prepares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capstone should look like the case study we show next. That is exactly what an FDE hiring panel wants to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viewers to write publicly every week. FDEs are hired partly on how well they explain things.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viewers: you do not need every tool. Depth in one per category and awareness of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Transition. Tell viewers this is a composite scenario modelled on typical deployments; numbers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pain concretely. The failed vendor demo is the key detail — that gap is exactly why an FDE gets engaged.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 one FDE mistake is starting to build in week one. Discovery is where the project is won or lost.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Highlight that the agent never settles a claim alone — the adjuster approves. This is what makes it acceptable to compliance.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many client roles the FDE has to work with. This is why the consulting skills in month 6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gates protect both sides. The FDE owns the gate criteria and reports honestly even when the numbers are bad.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loop: the FDE creates value for the client AND makes the vendor's product better. That two-way flow is the whole point of the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CTA: bootcamp launches 27 September 2026. Link in the description and pinned comment. Mention early-bird if applicable.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Outro: like, subscribe, and ask viewers to comment which month they are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rishnaik.in/liveclass2/Forward_Deployed_Engineer?id=14" TargetMode="External"/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486400" cy="5486400"/>
          </a:xfrm>
          <a:prstGeom prst="ellipse">
            <a:avLst/>
          </a:prstGeom>
          <a:solidFill>
            <a:srgbClr val="D4A83A">
              <a:alpha val="15000"/>
            </a:srgbClr>
          </a:solidFill>
          <a:ln w="12700">
            <a:solidFill>
              <a:srgbClr val="D4A83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291840"/>
            <a:ext cx="4114800" cy="4114800"/>
          </a:xfrm>
          <a:prstGeom prst="ellipse">
            <a:avLst/>
          </a:prstGeom>
          <a:solidFill>
            <a:srgbClr val="0F9D8F">
              <a:alpha val="15000"/>
            </a:srgbClr>
          </a:solidFill>
          <a:ln w="12700">
            <a:solidFill>
              <a:srgbClr val="0F9D8F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137514"/>
            <a:ext cx="833933" cy="83393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FORWARD DEPLOYED ENGINEER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</a:t>
            </a:r>
            <a:endParaRPr lang="en-US" sz="5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Roadmap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617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fundamentals to shipping production AI inside real enterprises — plus a full client case study.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Academy  •  @krishnaik06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AI Forward Deployed Engineer?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 who sits with the customer and turns a foundation model into a working business system.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760720" cy="4297680"/>
          </a:xfrm>
          <a:prstGeom prst="roundRect">
            <a:avLst>
              <a:gd name="adj" fmla="val 31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“Forward deployed” = deployed forward, into the client’s environment.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was popularised by Palantir and is now core at OpenAI, Anthropic, Scale AI, Databricks, Cohere and most AI-native startups.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last mile: the gap between a model demo and a system that a bank, hospital or factory actually runs every day.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engineer, half consultant, fully accountable for the outcome.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0" y="17373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BF3DF"/>
          </a:solidFill>
          <a:ln w="12700">
            <a:solidFill>
              <a:srgbClr val="FBF3D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0179" y="189097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099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2057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production code: RAG, agents, integrations, APIs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766560" y="28346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BF3DF"/>
          </a:solidFill>
          <a:ln w="12700">
            <a:solidFill>
              <a:srgbClr val="FBF3D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179" y="298825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35240" y="28072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635240" y="3154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on-site / in client Slack, speaks to CIOs and ops teams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766560" y="39319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BF3DF"/>
          </a:solidFill>
          <a:ln w="12700">
            <a:solidFill>
              <a:srgbClr val="FBF3D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179" y="40855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635240" y="39044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outcomes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7635240" y="42519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business KPIs, not tickets closed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766560" y="5029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BF3DF"/>
          </a:solidFill>
          <a:ln w="12700">
            <a:solidFill>
              <a:srgbClr val="FBF3D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179" y="518281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35240" y="50017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back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635240" y="5349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field learnings back to the product &amp; research teams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11137392" y="62179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2256" y="6272784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Academy  •  AI Forward Deployed Engineer Roadmap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FDE differs from adjacent AI roles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toolbox, very different job.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  <a:gridCol w="2194560"/>
                <a:gridCol w="219456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ML Engineer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Scientist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Solutions Engineer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Forward Deployed Engineer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8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you sit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/ platform team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team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Pre-sales, with sales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 the customer’s org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Features, model serving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Insights, models, experiments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Demos, POCs, RFP answers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system in client environment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Latency, accuracy, uptime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quality, lift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 closed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business KPI (cost, time, revenue)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contact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Occasional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High, pre-sale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Daily, post-sale through go-live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Ambiguity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 — you define the 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extra skill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 &amp;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Storytelling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Discovery, scoping, change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1137392" y="62179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2256" y="6272784"/>
            <a:ext cx="347472" cy="3474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Academy  •  AI Forward Deployed Engineer Roadmap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role is exploding right now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foundation-model lab and AI startup has hit the same wall.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02336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685800" cy="685800"/>
          </a:xfrm>
          <a:prstGeom prst="ellipse">
            <a:avLst>
              <a:gd name="adj" fmla="val 16000"/>
            </a:avLst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677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017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demo–production gap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033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commoditised. What enterprises pay for is someone who can make them work with messy data, legacy systems and compliance.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66160" cy="402336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103120"/>
            <a:ext cx="685800" cy="685800"/>
          </a:xfrm>
          <a:prstGeom prst="ellipse">
            <a:avLst>
              <a:gd name="adj" fmla="val 16000"/>
            </a:avLst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2677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017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depends on it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7033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labs sell multi-million-dollar enterprise contracts. Those contracts only renew if the deployment actually delivers value.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66160" cy="402336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2103120"/>
            <a:ext cx="685800" cy="685800"/>
          </a:xfrm>
          <a:prstGeom prst="ellipse">
            <a:avLst>
              <a:gd name="adj" fmla="val 16000"/>
            </a:avLst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26771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017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is scarce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7033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people can code, architect, and also sit across from a CIO. That scarcity is why FDE compensation is at the top of engineering bands.</a:t>
            </a:r>
            <a:endParaRPr lang="en-US" sz="13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2256" y="6272784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Academy  •  AI Forward Deployed Engineer Roadmap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skill pillars of an AI FDE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6-month roadmap is built to cover every pillar, in this order.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57400" cy="4023360"/>
          </a:xfrm>
          <a:prstGeom prst="roundRect">
            <a:avLst>
              <a:gd name="adj" fmla="val 666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22329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8862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APIs, Git, testing, Docker, SQL. Non-negotiable base.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788920" y="1783080"/>
            <a:ext cx="2057400" cy="4023360"/>
          </a:xfrm>
          <a:prstGeom prst="roundRect">
            <a:avLst>
              <a:gd name="adj" fmla="val 666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17520" y="20574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085" y="223296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06240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01752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Agent Engineering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017520" y="38862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Prompting, RAG, structured output, tool use, agents, evals.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0" y="1783080"/>
            <a:ext cx="2057400" cy="4023360"/>
          </a:xfrm>
          <a:prstGeom prst="roundRect">
            <a:avLst>
              <a:gd name="adj" fmla="val 666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257800" y="20574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365" y="223296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46520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525780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MLOps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5257800" y="38862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containers, CI/CD, observability, cost &amp; latency control.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269480" y="1783080"/>
            <a:ext cx="2057400" cy="4023360"/>
          </a:xfrm>
          <a:prstGeom prst="roundRect">
            <a:avLst>
              <a:gd name="adj" fmla="val 666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0" y="20574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3645" y="2232965"/>
            <a:ext cx="380390" cy="38039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686800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 txBox="1"/>
          <p:nvPr/>
        </p:nvSpPr>
        <p:spPr>
          <a:xfrm>
            <a:off x="749808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7498080" y="38862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data pipelines, security, compliance, legacy systems.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9509760" y="1783080"/>
            <a:ext cx="2057400" cy="4023360"/>
          </a:xfrm>
          <a:prstGeom prst="roundRect">
            <a:avLst>
              <a:gd name="adj" fmla="val 666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738360" y="20574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3925" y="2232965"/>
            <a:ext cx="380390" cy="38039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0927080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25"/>
          <p:cNvSpPr txBox="1"/>
          <p:nvPr/>
        </p:nvSpPr>
        <p:spPr>
          <a:xfrm>
            <a:off x="973836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&amp; Product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9738360" y="38862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scoping, stakeholder management, driving adoption.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11137392" y="62179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2256" y="6272784"/>
            <a:ext cx="347472" cy="34747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Academy  •  AI Forward Deployed Engineer Roadmap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6-month roadmap at a glance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~15–20 hours per week. Each month ends with one portfolio project.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2880360"/>
            <a:ext cx="9966960" cy="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651760"/>
            <a:ext cx="457200" cy="457200"/>
          </a:xfrm>
          <a:prstGeom prst="ellipse">
            <a:avLst/>
          </a:prstGeom>
          <a:solidFill>
            <a:srgbClr val="0F9D8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3383280"/>
            <a:ext cx="1737360" cy="228600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566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4340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SQL, APIs, Git, Docker, LLM basics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08960" y="2651760"/>
            <a:ext cx="457200" cy="457200"/>
          </a:xfrm>
          <a:prstGeom prst="ellipse">
            <a:avLst/>
          </a:prstGeom>
          <a:solidFill>
            <a:srgbClr val="0F9D8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2316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68880" y="3383280"/>
            <a:ext cx="1737360" cy="228600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06040" y="3566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Engineering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434340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Prompting, structured output, embeddings, RAG, evals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83480" y="2651760"/>
            <a:ext cx="457200" cy="457200"/>
          </a:xfrm>
          <a:prstGeom prst="ellipse">
            <a:avLst/>
          </a:prstGeom>
          <a:solidFill>
            <a:srgbClr val="0F9D8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43400" y="3383280"/>
            <a:ext cx="1737360" cy="228600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0560" y="3566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34340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use, LangGraph, MCP, multi-agent, guardrails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0" y="2651760"/>
            <a:ext cx="457200" cy="457200"/>
          </a:xfrm>
          <a:prstGeom prst="ellipse">
            <a:avLst/>
          </a:prstGeom>
          <a:solidFill>
            <a:srgbClr val="D4A83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3383280"/>
            <a:ext cx="1737360" cy="228600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3566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Deployment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434340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cloud, CI/CD, observability, gateways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32520" y="2651760"/>
            <a:ext cx="457200" cy="457200"/>
          </a:xfrm>
          <a:prstGeom prst="ellipse">
            <a:avLst/>
          </a:prstGeom>
          <a:solidFill>
            <a:srgbClr val="D4A83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92440" y="3383280"/>
            <a:ext cx="1737360" cy="228600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0" y="3566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434340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data pipelines, security, VPC / on-prem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607040" y="2651760"/>
            <a:ext cx="457200" cy="457200"/>
          </a:xfrm>
          <a:prstGeom prst="ellipse">
            <a:avLst/>
          </a:prstGeom>
          <a:solidFill>
            <a:srgbClr val="D4A83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2124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966960" y="3383280"/>
            <a:ext cx="1737360" cy="228600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104120" y="3566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Craft &amp; Capstone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0104120" y="434340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scoping, delivery, capstone, interviews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897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skills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172200" y="5897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deployable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137392" y="62179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2256" y="6272784"/>
            <a:ext cx="347472" cy="347472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Academy  •  AI Forward Deployed Engineer Roadmap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76072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be a competent backend engineer who understands how LLMs actually work.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011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—  Python for production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3172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Typing, dataclasses, Pydantic, async/await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envs, packaging, pytest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project structure &amp; logging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80560" y="182880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09160" y="2011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—  Data &amp; APIs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233172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joins, window functions, indexes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with FastAPI, HTTP semantics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Pandas, working with files &amp; PDFs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02336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—  Dev tooling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52628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branching, PRs, code review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CLI, shell scripting, SSH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images, volumes, compose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480560" y="402336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9160" y="4206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—  LLM fundamentals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709160" y="452628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context windows, sampling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at a conceptual level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OpenAI / Anthropic / open-weight APIs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366760" y="1828800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641080" y="2103120"/>
            <a:ext cx="548640" cy="548640"/>
          </a:xfrm>
          <a:prstGeom prst="ellipse">
            <a:avLst>
              <a:gd name="adj" fmla="val 20000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2754" y="2234794"/>
            <a:ext cx="285293" cy="285293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64108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8641080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Q&amp;A API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8641080" y="397764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that accepts a PDF and answers questions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Dockerised, tested, on GitHub with a README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11137392" y="62179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256" y="6272784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Academy  •  AI Forward Deployed Engineer Roadmap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76072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Engineering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reliable LLM features, not demos — and prove reliability with evals.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011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—  Prompt engineering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3172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prompts, few-shot, chain-of-thought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&amp; JSON schema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/ tool calling basics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80560" y="182880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09160" y="2011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—  Embeddings &amp; retrieval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233172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models, chunking strategies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DBs: pgvector, Pinecone, Qdrant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search, reranking, metadata filters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02336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—  RAG done properly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52628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rewriting, HyDE, parent-child chunks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&amp; grounding, hallucination control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Vectorless / PageIndex-style RAG for long docs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480560" y="402336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9160" y="4206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—  Evaluation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709160" y="452628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datasets, LLM-as-judge, RAGAS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tests on prompts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latency / quality trade-offs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366760" y="1828800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641080" y="2103120"/>
            <a:ext cx="548640" cy="548640"/>
          </a:xfrm>
          <a:prstGeom prst="ellipse">
            <a:avLst>
              <a:gd name="adj" fmla="val 20000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2754" y="2234794"/>
            <a:ext cx="285293" cy="285293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64108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8641080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RAG assistant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8641080" y="397764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a policy/contract corpus with citations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dashboard showing accuracy before &amp; after tuning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11137392" y="62179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256" y="6272784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Academy  •  AI Forward Deployed Engineer Roadmap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76072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design agents that take actions safely inside real workflows.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011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—  Agent foundations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3172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loop, planning, reflection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design &amp; tool schemas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short-term, long-term, episodic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80560" y="182880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09160" y="2011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—  Frameworks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233172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state, nodes, edges, checkpoints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Agents / subagent patterns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SDK, Claude Agent SDK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02336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—  Interop &amp; context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52628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&amp; clients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&amp; summarisation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approvals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480560" y="402336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9160" y="4206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—  Safety &amp; control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709160" y="452628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input/output validation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scoping, sandboxing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limits, budgets, kill switches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366760" y="1828800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641080" y="2103120"/>
            <a:ext cx="548640" cy="548640"/>
          </a:xfrm>
          <a:prstGeom prst="ellipse">
            <a:avLst>
              <a:gd name="adj" fmla="val 20000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2754" y="2234794"/>
            <a:ext cx="285293" cy="285293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64108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8641080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workflow agent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8641080" y="397764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agent that reads tickets, queries a DB and drafts actions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 + full trace logging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11137392" y="62179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256" y="6272784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Academy  •  AI Forward Deployed Engineer Roadmap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76072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Deployment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ship an AI system that stays up, stays cheap and stays observable.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011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—  Serving &amp; infra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3172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Uvicorn/Gunicorn, streaming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→ Kubernetes basics, Helm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cloud deeply: AWS / Azure / GCP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80560" y="182880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09160" y="2011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—  Delivery pipeline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233172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Environments: dev / staging / prod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management, IaC with Terraform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02336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—  Observability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52628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with LangSmith / Langfuse / OpenTelemetry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&amp; cost dashboards, alerts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evals &amp; feedback loops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480560" y="402336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9160" y="4206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—  LLM gateway &amp; scale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709160" y="452628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gateway: routing, fallbacks, rate limits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Caching, batching, model tiering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budgets &amp; load testing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366760" y="1828800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641080" y="2103120"/>
            <a:ext cx="548640" cy="548640"/>
          </a:xfrm>
          <a:prstGeom prst="ellipse">
            <a:avLst>
              <a:gd name="adj" fmla="val 20000"/>
            </a:avLst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2754" y="2234794"/>
            <a:ext cx="285293" cy="285293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64108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8641080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Cloud-deployed agent platform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8641080" y="397764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Month-3 agent deployed on cloud with CI/CD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Tracing, cost dashboard, gateway with fallback models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11137392" y="62179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256" y="6272784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Academy  •  AI Forward Deployed Engineer Roadmap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76072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make AI work with the systems, data and rules a real company already has.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011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—  Identity &amp; access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3172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OAuth2, OIDC, SAML basics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row-level security for RAG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80560" y="182880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09160" y="2011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—  Data integration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233172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Connectors: SharePoint, Salesforce, SAP, Jira, S3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ETL/ELT, CDC, incremental indexing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PII handling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02336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—  Security &amp; compliance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52628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&amp; data exfiltration defences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2, GDPR, DPDP Act, HIPAA awareness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security questionnaires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480560" y="402336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9160" y="4206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—  Deployment models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709160" y="452628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/ private endpoints, on-prem, air-gapped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models with vLLM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modelling &amp; TCO for the client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366760" y="1828800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641080" y="2103120"/>
            <a:ext cx="548640" cy="548640"/>
          </a:xfrm>
          <a:prstGeom prst="ellipse">
            <a:avLst>
              <a:gd name="adj" fmla="val 20000"/>
            </a:avLst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2754" y="2234794"/>
            <a:ext cx="285293" cy="285293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64108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8641080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enterprise copilot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8641080" y="397764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copilot with SSO, per-user permissions and audit trail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in a private VPC with an open-weight fallback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11137392" y="62179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256" y="6272784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Academy  •  AI Forward Deployed Engineer Roadmap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76072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Craft &amp; Capstone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learn the consulting side of the job and package yourself for interviews.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011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—  Discovery &amp; scoping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3172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interviews, process mapping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KPI that matters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scoped SOW &amp; success criteria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80560" y="182880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09160" y="2011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—  Delivery playbook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233172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→ pilot → production stage gates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&amp; user training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demos, risk logs, escalation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02336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—  Communication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52628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updates &amp; demo storytelling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no, managing scope creep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handover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480560" y="4023360"/>
            <a:ext cx="370332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9160" y="4206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—  Career launch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709160" y="452628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case study write-up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interview loops: system design + case + coding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site, LinkedIn, referrals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366760" y="1828800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641080" y="2103120"/>
            <a:ext cx="548640" cy="548640"/>
          </a:xfrm>
          <a:prstGeom prst="ellipse">
            <a:avLst>
              <a:gd name="adj" fmla="val 20000"/>
            </a:avLst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2754" y="2234794"/>
            <a:ext cx="285293" cy="285293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64108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8641080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client capstone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8641080" y="397764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real domain, do discovery, build, deploy and present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SOW, architecture, demo, results deck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11137392" y="62179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256" y="6272784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Academy  •  AI Forward Deployed Engineer Roadmap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weekly study cadence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beats intensity. This is 15–20 hours per week.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BF3DF"/>
          </a:solidFill>
          <a:ln w="12700">
            <a:solidFill>
              <a:srgbClr val="FBF3D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1925726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8562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200400" y="1874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189280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Courses, docs, papers. Read the official docs of the tool you are using this week.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624328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BF3DF"/>
          </a:solidFill>
          <a:ln w="12700">
            <a:solidFill>
              <a:srgbClr val="FBF3D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2766974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200400" y="27157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hrs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73405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coding on the monthly project. Commit daily, even if it is small.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465576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BF3DF"/>
          </a:solidFill>
          <a:ln w="12700">
            <a:solidFill>
              <a:srgbClr val="FBF3D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3608222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5387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3200400" y="355701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480560" y="3575304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blog / LinkedIn post explaining what you built. Builds your FDE communication muscle.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4306824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BF3DF"/>
          </a:solidFill>
          <a:ln w="12700">
            <a:solidFill>
              <a:srgbClr val="FBF3D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4449470"/>
            <a:ext cx="309067" cy="30906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43799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3200400" y="4398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4480560" y="44165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/ meetups / open-source issues. Ask and answer questions.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5148072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BF3DF"/>
          </a:solidFill>
          <a:ln w="12700">
            <a:solidFill>
              <a:srgbClr val="FBF3D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5290718"/>
            <a:ext cx="309067" cy="30906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2212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3200400" y="52395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hrs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2578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retro: what shipped, what blocked you, plan next week.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11137392" y="62179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2256" y="6272784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Academy  •  AI Forward Deployed Engineer Roadmap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FDE tool stack you will know by month 6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one tool per box deeply; know the alternatives exist.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&amp; core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0008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(basic)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agents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350008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Anthropic APIs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LangGraph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Open-weight: Llama, Qwen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350008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/ Qdrant / Pinecone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PageIndex-style RAG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14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&amp; infra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498848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Kubernetes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 / GCP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vLLM, Terraform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393192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4114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&amp; quality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498848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/ Langfuse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gateway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RAGAS, promptfoo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93192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4114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498848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SSO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SharePoint, Salesforce, SAP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/ dbt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DLP</a:t>
            </a:r>
            <a:endParaRPr lang="en-US" sz="13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2256" y="6272784"/>
            <a:ext cx="347472" cy="34747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Academy  •  AI Forward Deployed Engineer Roadmap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1828800"/>
            <a:ext cx="6400800" cy="6400800"/>
          </a:xfrm>
          <a:prstGeom prst="ellipse">
            <a:avLst/>
          </a:prstGeom>
          <a:solidFill>
            <a:srgbClr val="D4A83A">
              <a:alpha val="20000"/>
            </a:srgbClr>
          </a:solidFill>
          <a:ln w="12700">
            <a:solidFill>
              <a:srgbClr val="D4A83A">
                <a:alpha val="2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CASE STUDY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AI FDE solves a real business problem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43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scenario: a mid-size general insurer drowning in claims paperwork.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4238" y="5263286"/>
            <a:ext cx="903427" cy="9034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client: NovaSure General Insurance (illustrative)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&amp; health insurer, 1,200 employees, legacy core systems, 3 regional claims centres.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42,000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/ month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days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settlement time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180+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adjusters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escalated / reworked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502920" cy="502920"/>
          </a:xfrm>
          <a:prstGeom prst="ellipse">
            <a:avLst>
              <a:gd name="adj" fmla="val 21818"/>
            </a:avLst>
          </a:prstGeom>
          <a:solidFill>
            <a:srgbClr val="FBF3DF"/>
          </a:solidFill>
          <a:ln w="12700">
            <a:solidFill>
              <a:srgbClr val="FBF3D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3412541"/>
            <a:ext cx="261518" cy="26151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88720" y="3337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broken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84048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arrives as a bundle of PDFs, photos and emails; adjusters manually re-key data into the core system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wording lives in 400+ documents; coverage checks depend on adjuster memory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triage is inconsistent across the three regional centres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complaints about turnaround time are rising; regulator has flagged settlement SLAs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0" y="3291840"/>
            <a:ext cx="502920" cy="502920"/>
          </a:xfrm>
          <a:prstGeom prst="ellipse">
            <a:avLst>
              <a:gd name="adj" fmla="val 21818"/>
            </a:avLst>
          </a:prstGeom>
          <a:solidFill>
            <a:srgbClr val="E6F6F4"/>
          </a:solidFill>
          <a:ln w="12700">
            <a:solidFill>
              <a:srgbClr val="E6F6F4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501" y="3412541"/>
            <a:ext cx="261518" cy="26151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040880" y="3337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already tried</a:t>
            </a:r>
            <a:endParaRPr lang="en-US" sz="1900" dirty="0"/>
          </a:p>
        </p:txBody>
      </p:sp>
      <p:sp>
        <p:nvSpPr>
          <p:cNvPr id="23" name="Text 19"/>
          <p:cNvSpPr txBox="1"/>
          <p:nvPr/>
        </p:nvSpPr>
        <p:spPr>
          <a:xfrm>
            <a:off x="6400800" y="384048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 chatbot demo that looked great on sample claims and failed on real scans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internal RPA project that broke every time the core system UI changed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more adjusters — costs rose, throughput barely moved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CIO now wants a partner who will own the outcome, not ship a demo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11137392" y="62179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256" y="6272784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Academy  •  AI Forward Deployed Engineer Roadmap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1–2: the FDE runs discovery, not development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 line of code, the FDE finds the KPI, the data and the risks.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94360" cy="594360"/>
          </a:xfrm>
          <a:prstGeom prst="ellipse">
            <a:avLst>
              <a:gd name="adj" fmla="val 1846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1880006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7556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the work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480560" y="17830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with adjusters in one centre for 3 days; maps the 11-step claim journey and where time is actually lost.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594360" cy="594360"/>
          </a:xfrm>
          <a:prstGeom prst="ellipse">
            <a:avLst>
              <a:gd name="adj" fmla="val 1846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2748686"/>
            <a:ext cx="309067" cy="30906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6243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data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4480560" y="26517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500 historical claims: scan quality, document types, missing fields, where the policy text lives.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474720"/>
            <a:ext cx="594360" cy="594360"/>
          </a:xfrm>
          <a:prstGeom prst="ellipse">
            <a:avLst>
              <a:gd name="adj" fmla="val 1846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3617366"/>
            <a:ext cx="309067" cy="30906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34930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KPI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480560" y="35204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Agrees with the Head of Claims: cut settlement time from 7.5 to under 4 days on standard motor claims first.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4343400"/>
            <a:ext cx="594360" cy="594360"/>
          </a:xfrm>
          <a:prstGeom prst="ellipse">
            <a:avLst>
              <a:gd name="adj" fmla="val 1846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4486046"/>
            <a:ext cx="309067" cy="30906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4361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 early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4480560" y="43891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IT Security &amp; Compliance on day 4: data residency, PII handling, model hosting in the client’s Azure tenant.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48640" y="5212080"/>
            <a:ext cx="594360" cy="594360"/>
          </a:xfrm>
          <a:prstGeom prst="ellipse">
            <a:avLst>
              <a:gd name="adj" fmla="val 1846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5354726"/>
            <a:ext cx="309067" cy="30906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71600" y="5230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SOW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4480560" y="52578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6-page scope: POC in 2 weeks, pilot in 6, production in 8. Clear success criteria and exit conditions.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11137392" y="62179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2256" y="6272784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Academy  •  AI Forward Deployed Engineer Roadmap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an AI Claims Intake &amp; Triage Assistant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inside NovaSure’s Azure tenant. Humans stay in the loop at every decision point.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691640" cy="233172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65960"/>
            <a:ext cx="548640" cy="548640"/>
          </a:xfrm>
          <a:prstGeom prst="ellipse">
            <a:avLst>
              <a:gd name="adj" fmla="val 20000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20976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651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1752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portal &amp; scans land in a queue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221992" y="2839212"/>
            <a:ext cx="219456" cy="219456"/>
          </a:xfrm>
          <a:prstGeom prst="rightArrow">
            <a:avLst/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23160" y="1783080"/>
            <a:ext cx="1691640" cy="233172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06040" y="1965960"/>
            <a:ext cx="548640" cy="548640"/>
          </a:xfrm>
          <a:prstGeom prst="ellipse">
            <a:avLst>
              <a:gd name="adj" fmla="val 20000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714" y="209763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06040" y="2651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606040" y="301752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LLM structured extraction into a claim schema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096512" y="2839212"/>
            <a:ext cx="219456" cy="219456"/>
          </a:xfrm>
          <a:prstGeom prst="rightArrow">
            <a:avLst/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297680" y="1783080"/>
            <a:ext cx="1691640" cy="233172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480560" y="1965960"/>
            <a:ext cx="548640" cy="548640"/>
          </a:xfrm>
          <a:prstGeom prst="ellipse">
            <a:avLst>
              <a:gd name="adj" fmla="val 20000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234" y="209763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480560" y="2651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RAG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4480560" y="301752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coverage check over 400+ policy docs, with citations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971032" y="2839212"/>
            <a:ext cx="219456" cy="219456"/>
          </a:xfrm>
          <a:prstGeom prst="rightArrow">
            <a:avLst/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172200" y="1783080"/>
            <a:ext cx="1691640" cy="233172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355080" y="1965960"/>
            <a:ext cx="548640" cy="548640"/>
          </a:xfrm>
          <a:prstGeom prst="ellipse">
            <a:avLst>
              <a:gd name="adj" fmla="val 20000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754" y="209763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355080" y="2651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agent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355080" y="301752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Classifies: auto-approve / adjuster / fraud review, with reasoning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845552" y="2839212"/>
            <a:ext cx="219456" cy="219456"/>
          </a:xfrm>
          <a:prstGeom prst="rightArrow">
            <a:avLst/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046720" y="1783080"/>
            <a:ext cx="1691640" cy="233172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229600" y="1965960"/>
            <a:ext cx="548640" cy="548640"/>
          </a:xfrm>
          <a:prstGeom prst="ellipse">
            <a:avLst>
              <a:gd name="adj" fmla="val 20000"/>
            </a:avLst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1274" y="209763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229600" y="2651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8229600" y="301752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Adjuster sees pre-filled claim + evidence; approves or edits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9720072" y="2839212"/>
            <a:ext cx="219456" cy="219456"/>
          </a:xfrm>
          <a:prstGeom prst="rightArrow">
            <a:avLst/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921240" y="1783080"/>
            <a:ext cx="1691640" cy="233172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104120" y="1965960"/>
            <a:ext cx="548640" cy="548640"/>
          </a:xfrm>
          <a:prstGeom prst="ellipse">
            <a:avLst>
              <a:gd name="adj" fmla="val 20000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794" y="2097634"/>
            <a:ext cx="285293" cy="285293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104120" y="2651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10104120" y="301752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back via API; audit trail stored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548640" y="443484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172033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822960" y="45720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LAYER (built by the FDE, owned by the client)</a:t>
            </a:r>
            <a:endParaRPr lang="en-US" sz="1100" dirty="0"/>
          </a:p>
        </p:txBody>
      </p:sp>
      <p:sp>
        <p:nvSpPr>
          <p:cNvPr id="41" name="Text 33"/>
          <p:cNvSpPr txBox="1"/>
          <p:nvPr/>
        </p:nvSpPr>
        <p:spPr>
          <a:xfrm>
            <a:off x="822960" y="4937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822960" y="52303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GPT-class + open-weight fallback via vLLM</a:t>
            </a:r>
            <a:endParaRPr lang="en-US" sz="1150" dirty="0"/>
          </a:p>
        </p:txBody>
      </p:sp>
      <p:sp>
        <p:nvSpPr>
          <p:cNvPr id="43" name="Text 35"/>
          <p:cNvSpPr txBox="1"/>
          <p:nvPr/>
        </p:nvSpPr>
        <p:spPr>
          <a:xfrm>
            <a:off x="3520440" y="4937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44" name="Text 36"/>
          <p:cNvSpPr txBox="1"/>
          <p:nvPr/>
        </p:nvSpPr>
        <p:spPr>
          <a:xfrm>
            <a:off x="3520440" y="52303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workflow with checkpoints &amp; HITL</a:t>
            </a:r>
            <a:endParaRPr lang="en-US" sz="1150" dirty="0"/>
          </a:p>
        </p:txBody>
      </p:sp>
      <p:sp>
        <p:nvSpPr>
          <p:cNvPr id="45" name="Text 37"/>
          <p:cNvSpPr txBox="1"/>
          <p:nvPr/>
        </p:nvSpPr>
        <p:spPr>
          <a:xfrm>
            <a:off x="6217920" y="4937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46" name="Text 38"/>
          <p:cNvSpPr txBox="1"/>
          <p:nvPr/>
        </p:nvSpPr>
        <p:spPr>
          <a:xfrm>
            <a:off x="6217920" y="52303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Blob, pgvector, incremental policy indexing</a:t>
            </a:r>
            <a:endParaRPr lang="en-US" sz="1150" dirty="0"/>
          </a:p>
        </p:txBody>
      </p:sp>
      <p:sp>
        <p:nvSpPr>
          <p:cNvPr id="47" name="Text 39"/>
          <p:cNvSpPr txBox="1"/>
          <p:nvPr/>
        </p:nvSpPr>
        <p:spPr>
          <a:xfrm>
            <a:off x="8915400" y="4937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48" name="Text 40"/>
          <p:cNvSpPr txBox="1"/>
          <p:nvPr/>
        </p:nvSpPr>
        <p:spPr>
          <a:xfrm>
            <a:off x="8915400" y="52303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SSO/RBAC, PII masking, full tracing (Langfuse), evals</a:t>
            </a:r>
            <a:endParaRPr lang="en-US" sz="1150" dirty="0"/>
          </a:p>
        </p:txBody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92256" y="6272784"/>
            <a:ext cx="347472" cy="347472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Academy  •  AI Forward Deployed Engineer Roadmap</a:t>
            </a:r>
            <a:endParaRPr lang="en-US" sz="1000" dirty="0"/>
          </a:p>
        </p:txBody>
      </p:sp>
      <p:sp>
        <p:nvSpPr>
          <p:cNvPr id="51" name="Text 42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responsibilities on the engagement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FDE is the connective tissue between the AI vendor and every client function.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45720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deliverables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4A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Forward Deployed Engineer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vendor (you)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Discovery, architecture, builds extraction + RAG + triage agent, evals, deployment in client tenant, weekly demos, adoption, handover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SOW, architecture doc, working system, eval reports, runbook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/ Account Lead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vendor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Commercials, executive relationship, scope &amp; change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Contract, steering-committee updates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&amp; Research liaison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vendor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Receives field feedback from the FDE; prioritises platform fixes and model improvements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Roadmap items, model updates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sponsor (CIO / COO)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 the business case, unblocks budget and teams, sets the KPI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/ no-go at each stage gate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 Claims (business owner)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rules &amp; edge cases, nominates pilot adjusters, drives adoption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sign-off, pilot feedback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IT, Security &amp; Compliance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access, SSO, data residency review, security testing, regulatory sign-off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approval, audit requirements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Integration team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Core-system APIs, historical claim exports, document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endpoints, data extracts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Adjusters (end users)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the tool daily, flag errors, validate outputs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loop, ground-truth labels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1137392" y="62179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2256" y="6272784"/>
            <a:ext cx="347472" cy="3474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Academy  •  AI Forward Deployed Engineer Roadmap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POC → Pilot → Production in 16 weeks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has a gate. The FDE demos every Friday and never lets scope drift silently.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291840"/>
          </a:xfrm>
          <a:prstGeom prst="roundRect">
            <a:avLst>
              <a:gd name="adj" fmla="val 416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data audit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on 200 real claims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report vs. adjuster ground truth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&gt;90% field accuracy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66160" cy="3291840"/>
          </a:xfrm>
          <a:prstGeom prst="roundRect">
            <a:avLst>
              <a:gd name="adj" fmla="val 416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05740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7432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RAG + triage agent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client Azure tenant, SSO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adjusters in one region use it live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settlement time &amp; satisfaction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66160" cy="3291840"/>
          </a:xfrm>
          <a:prstGeom prst="roundRect">
            <a:avLst>
              <a:gd name="adj" fmla="val 416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5740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82980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9–16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7432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all 3 centres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Fraud-review routing, monitoring, alerts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runbooks, handover to client team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KPI met for 4 consecutive weeks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1137392" y="62179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2256" y="6272784"/>
            <a:ext cx="347472" cy="34747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Academy  •  AI Forward Deployed Engineer Roadmap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after 16 weeks (illustrative)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the FDE is measured on — business numbers, not model metrics.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→ 3.2 days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settlement time on standard motor claims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965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651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standard claims auto-prepared, adjuster approves in one click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566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→ 9%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251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escalated or reworked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33832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3566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~₹4.8 Cr / yr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251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operating savings, validated by client finance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FDE hands back to the vendor: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insurance-claims template, 3 platform bugs fixed, an eval dataset of 2,000 labelled claims, and a reference customer for the next deal.</a:t>
            </a:r>
            <a:endParaRPr lang="en-US" sz="14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2256" y="6272784"/>
            <a:ext cx="347472" cy="34747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Academy  •  AI Forward Deployed Engineer Roadmap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029200" cy="5029200"/>
          </a:xfrm>
          <a:prstGeom prst="ellipse">
            <a:avLst/>
          </a:prstGeom>
          <a:solidFill>
            <a:srgbClr val="D4A83A">
              <a:alpha val="15000"/>
            </a:srgbClr>
          </a:solidFill>
          <a:ln w="12700">
            <a:solidFill>
              <a:srgbClr val="D4A83A">
                <a:alpha val="1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LIVE BOOTCAMP  •  KRISH NAIK ACADEMY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3771" y="702259"/>
            <a:ext cx="972922" cy="97292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12801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Forward Deployed Engineer Bootcamp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" y="2514600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0" y="2587752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41" y="2684313"/>
            <a:ext cx="209215" cy="20921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2514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Launching 27 September 2026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05840" y="32918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roadmap, taught live by Krish Naik and industry mentors — compressed, project-driven, and built around real client scenarios like the one you just saw.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1005840" y="4434840"/>
            <a:ext cx="411480" cy="411480"/>
          </a:xfrm>
          <a:prstGeom prst="ellipse">
            <a:avLst>
              <a:gd name="adj" fmla="val 26667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" y="4533595"/>
            <a:ext cx="213970" cy="21397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4507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classes + recordings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023360" y="4434840"/>
            <a:ext cx="411480" cy="411480"/>
          </a:xfrm>
          <a:prstGeom prst="ellipse">
            <a:avLst>
              <a:gd name="adj" fmla="val 26667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2115" y="4533595"/>
            <a:ext cx="213970" cy="2139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572000" y="4507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FDE capstone project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1005840" y="5074920"/>
            <a:ext cx="411480" cy="411480"/>
          </a:xfrm>
          <a:prstGeom prst="ellipse">
            <a:avLst>
              <a:gd name="adj" fmla="val 26667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595" y="5173675"/>
            <a:ext cx="213970" cy="21397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554480" y="5148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&amp; doubt-clearing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4023360" y="5074920"/>
            <a:ext cx="411480" cy="411480"/>
          </a:xfrm>
          <a:prstGeom prst="ellipse">
            <a:avLst>
              <a:gd name="adj" fmla="val 26667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2115" y="5173675"/>
            <a:ext cx="213970" cy="21397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572000" y="5148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&amp; career guidance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7315200" y="3291840"/>
            <a:ext cx="4297680" cy="246888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7680960" y="3566160"/>
            <a:ext cx="548640" cy="548640"/>
          </a:xfrm>
          <a:prstGeom prst="ellipse">
            <a:avLst>
              <a:gd name="adj" fmla="val 20000"/>
            </a:avLst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2634" y="3697834"/>
            <a:ext cx="285293" cy="285293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680960" y="4251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 / details</a:t>
            </a:r>
            <a:endParaRPr lang="en-US" sz="1600" dirty="0"/>
          </a:p>
        </p:txBody>
      </p:sp>
      <p:sp>
        <p:nvSpPr>
          <p:cNvPr id="27" name="Text 18">
            <a:hlinkClick r:id="rId8" tooltip=""/>
          </p:cNvPr>
          <p:cNvSpPr txBox="1"/>
          <p:nvPr/>
        </p:nvSpPr>
        <p:spPr>
          <a:xfrm>
            <a:off x="7680960" y="46634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u="sng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krishnaik.in/liveclass2/Forward_Deployed_Engineer</a:t>
            </a:r>
            <a:endParaRPr lang="en-US" sz="1150" dirty="0"/>
          </a:p>
        </p:txBody>
      </p:sp>
      <p:sp>
        <p:nvSpPr>
          <p:cNvPr id="28" name="Text 19"/>
          <p:cNvSpPr txBox="1"/>
          <p:nvPr/>
        </p:nvSpPr>
        <p:spPr>
          <a:xfrm>
            <a:off x="7680960" y="5303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in the video description</a:t>
            </a:r>
            <a:endParaRPr lang="en-US" sz="1100" dirty="0"/>
          </a:p>
        </p:txBody>
      </p:sp>
      <p:sp>
        <p:nvSpPr>
          <p:cNvPr id="29" name="Text 20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0F9D8F">
              <a:alpha val="15000"/>
            </a:srgbClr>
          </a:solidFill>
          <a:ln w="12700">
            <a:solidFill>
              <a:srgbClr val="0F9D8F">
                <a:alpha val="15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771754"/>
            <a:ext cx="833933" cy="83393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011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6 months start today.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10896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the roadmap slide and pick your Month-1 project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one thing every week and write about it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AI FDE Bootcamp — 27 September 2026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Naik Academy   •   YouTube @krishnaik06   •   krishnaik.in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268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Forward Deployed Engineer — 6-Month Roadmap</dc:title>
  <dc:subject>PptxGenJS Presentation</dc:subject>
  <dc:creator>PptxGenJS</dc:creator>
  <cp:lastModifiedBy>PptxGenJS</cp:lastModifiedBy>
  <cp:revision>1</cp:revision>
  <dcterms:created xsi:type="dcterms:W3CDTF">2026-09-06T15:53:17Z</dcterms:created>
  <dcterms:modified xsi:type="dcterms:W3CDTF">2026-09-06T15:53:17Z</dcterms:modified>
</cp:coreProperties>
</file>